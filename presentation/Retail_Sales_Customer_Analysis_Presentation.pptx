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2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0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1B94-6843-C5ED-17C8-720F6C80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18A2B-64EF-4FE9-5CF2-DA8A199E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68CEC-7AF7-E9D4-DDC8-4523210DF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DC84D-8ED0-EA6F-326D-B6AB85F78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360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9DFE-64FC-02E5-8B85-EB7030AE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90EFC-2E54-1F39-81F3-28FA6B0F5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0A62B3-83F2-0DB1-01B7-9C4388E04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179B4-D127-B47B-2F20-8FB461A9BC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86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CE1A-FD13-E928-D3B4-D51CF511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15B229-6960-64CB-8DE2-1471100C9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D0D01-CEF4-0DF3-99AA-1D0F07855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199CD-DC20-E527-AD4F-C79B9F4B7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39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2926080" cy="2926080"/>
          </a:xfrm>
          <a:prstGeom prst="ellipse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-274320"/>
            <a:ext cx="1828800" cy="1828800"/>
          </a:xfrm>
          <a:prstGeom prst="ellipse">
            <a:avLst/>
          </a:prstGeom>
          <a:solidFill>
            <a:srgbClr val="00C4CC">
              <a:alpha val="20000"/>
            </a:srgbClr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629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731520"/>
            <a:ext cx="2560320" cy="347472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731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DATA ANALYTICS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&amp;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Business Intelligence Project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639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Collection to Interactive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6451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Jatindra Patel   |   Domain: Retail Analytics   |   Tools: Kaggle · Excel · AWS · SQL · Python · Power BI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75488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99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2084832"/>
            <a:ext cx="475488" cy="384048"/>
          </a:xfrm>
          <a:prstGeom prst="rect">
            <a:avLst/>
          </a:prstGeom>
          <a:solidFill>
            <a:srgbClr val="00C4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1214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Architecture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706624"/>
            <a:ext cx="475488" cy="384048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7066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432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Workflow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328416"/>
            <a:ext cx="475488" cy="384048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33284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(MS Excel)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3950208"/>
            <a:ext cx="475488" cy="384048"/>
          </a:xfrm>
          <a:prstGeom prst="rect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9502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9867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 &amp; AWS Cloud Setup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75488" cy="384048"/>
          </a:xfrm>
          <a:prstGeom prst="rect">
            <a:avLst/>
          </a:prstGeom>
          <a:solidFill>
            <a:srgbClr val="9B59B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4630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149961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084832"/>
            <a:ext cx="475488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0368" y="21214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 &amp; KPIs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2706624"/>
            <a:ext cx="475488" cy="384048"/>
          </a:xfrm>
          <a:prstGeom prst="rect">
            <a:avLst/>
          </a:prstGeom>
          <a:solidFill>
            <a:srgbClr val="00C4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663440" y="27066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27432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(Python)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63440" y="3328416"/>
            <a:ext cx="475488" cy="384048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33284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30368" y="336499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3950208"/>
            <a:ext cx="475488" cy="384048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95020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0368" y="398678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BUSINESS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Business Problem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4023360" cy="338328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402336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BUSINESS CHALLENGES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✗  </a:t>
            </a:r>
            <a:r>
              <a:rPr lang="en-US" sz="1200" dirty="0">
                <a:solidFill>
                  <a:srgbClr val="1C2B3A"/>
                </a:solidFill>
              </a:rPr>
              <a:t>Limited visibility into product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✗  </a:t>
            </a:r>
            <a:r>
              <a:rPr lang="en-US" sz="1200" dirty="0">
                <a:solidFill>
                  <a:srgbClr val="1C2B3A"/>
                </a:solidFill>
              </a:rPr>
              <a:t>No centralized reporting for sales trends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✗  </a:t>
            </a:r>
            <a:r>
              <a:rPr lang="en-US" sz="1200" dirty="0">
                <a:solidFill>
                  <a:srgbClr val="1C2B3A"/>
                </a:solidFill>
              </a:rPr>
              <a:t>Difficulty identifying high-value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38144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✗  </a:t>
            </a:r>
            <a:r>
              <a:rPr lang="en-US" sz="1200" dirty="0">
                <a:solidFill>
                  <a:srgbClr val="1C2B3A"/>
                </a:solidFill>
              </a:rPr>
              <a:t>Inefficient decisions due to scattered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✗  </a:t>
            </a:r>
            <a:r>
              <a:rPr lang="en-US" sz="1200" dirty="0">
                <a:solidFill>
                  <a:srgbClr val="1C2B3A"/>
                </a:solidFill>
              </a:rPr>
              <a:t>Manual, error-prone data handling processes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353312"/>
            <a:ext cx="4297680" cy="3383280"/>
          </a:xfrm>
          <a:prstGeom prst="rect">
            <a:avLst/>
          </a:prstGeom>
          <a:solidFill>
            <a:srgbClr val="F0FFF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353312"/>
            <a:ext cx="429768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3533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 PROJECT OBJECTIVES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90195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r>
              <a:rPr lang="en-US" sz="1200" dirty="0">
                <a:solidFill>
                  <a:srgbClr val="1C2B3A"/>
                </a:solidFill>
              </a:rPr>
              <a:t>Understand overall sales performance &amp; trends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4140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r>
              <a:rPr lang="en-US" sz="1200" dirty="0">
                <a:solidFill>
                  <a:srgbClr val="1C2B3A"/>
                </a:solidFill>
              </a:rPr>
              <a:t>Identify top-performing products &amp; categories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r>
              <a:rPr lang="en-US" sz="1200" dirty="0">
                <a:solidFill>
                  <a:srgbClr val="1C2B3A"/>
                </a:solidFill>
              </a:rPr>
              <a:t>Analyze customer purchasing behavior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43814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r>
              <a:rPr lang="en-US" sz="1200" dirty="0">
                <a:solidFill>
                  <a:srgbClr val="1C2B3A"/>
                </a:solidFill>
              </a:rPr>
              <a:t>Track monthly &amp; regional sales patterns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9502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✓  </a:t>
            </a:r>
            <a:r>
              <a:rPr lang="en-US" sz="1200" dirty="0">
                <a:solidFill>
                  <a:srgbClr val="1C2B3A"/>
                </a:solidFill>
              </a:rPr>
              <a:t>Build KPI dashboard for data-driven decisions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A73E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A73E8"/>
                </a:solidFill>
              </a:rPr>
              <a:t>"Transform raw retail data into actionable business intelligence for smarter decision-making"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DATA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Data Sources &amp; Dataset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286000" cy="384048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📦  Source: Kaggle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Northwind Retail Database  |  Format: CSV  |  Time Period: 2013 – 2015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54864" cy="11430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📋  orders.csv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OrderID, CustomerID, Dates, Freight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898648"/>
            <a:ext cx="1188720" cy="256032"/>
          </a:xfrm>
          <a:prstGeom prst="rect">
            <a:avLst/>
          </a:prstGeom>
          <a:solidFill>
            <a:srgbClr val="1A73E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3E8"/>
                </a:solidFill>
              </a:rPr>
              <a:t>830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0" y="2148840"/>
            <a:ext cx="54864" cy="114300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👥  customers.csv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CustomerID, Company, City, Country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898648"/>
            <a:ext cx="1188720" cy="256032"/>
          </a:xfrm>
          <a:prstGeom prst="rect">
            <a:avLst/>
          </a:prstGeom>
          <a:solidFill>
            <a:srgbClr val="00C4C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4CC"/>
                </a:solidFill>
              </a:rPr>
              <a:t>91 records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4884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2148840"/>
            <a:ext cx="54864" cy="114300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63640" y="22402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📦  products.csv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25328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ProductID, Name, UnitPrice, Category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898648"/>
            <a:ext cx="1188720" cy="256032"/>
          </a:xfrm>
          <a:prstGeom prst="rect">
            <a:avLst/>
          </a:prstGeom>
          <a:solidFill>
            <a:srgbClr val="F5A623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2898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</a:rPr>
              <a:t>77 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474720"/>
            <a:ext cx="54864" cy="11430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🧾  order_details.csv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OrderID, ProductID, Qty, Discount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24528"/>
            <a:ext cx="1188720" cy="256032"/>
          </a:xfrm>
          <a:prstGeom prst="rect">
            <a:avLst/>
          </a:prstGeom>
          <a:solidFill>
            <a:srgbClr val="9B59B6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59B6"/>
                </a:solidFill>
              </a:rPr>
              <a:t>2,155 records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4747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00400" y="3474720"/>
            <a:ext cx="54864" cy="11430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3756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🏷️  categories.csv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37560" y="3858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CategoryID, CategoryName, Description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37560" y="4224528"/>
            <a:ext cx="1188720" cy="256032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37560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</a:rPr>
              <a:t>8 records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474720"/>
            <a:ext cx="27432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26480" y="3474720"/>
            <a:ext cx="54864" cy="11430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63640" y="35661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🚛  shippers.csv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38587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ShipperID, CompanyName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4224528"/>
            <a:ext cx="1188720" cy="256032"/>
          </a:xfrm>
          <a:prstGeom prst="rect">
            <a:avLst/>
          </a:prstGeom>
          <a:solidFill>
            <a:srgbClr val="27AE60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263640" y="42245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7AE60"/>
                </a:solidFill>
              </a:rPr>
              <a:t>3 records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4CC"/>
                </a:solidFill>
              </a:rPr>
              <a:t>TOTAL: 6 Tables  |  ~3,164 Records  |  10 Attributes across Fact &amp; Dimension tables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323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PROJECT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End-to-End Data Pipeline &amp; Workflow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6072" y="1417320"/>
            <a:ext cx="822960" cy="822960"/>
          </a:xfrm>
          <a:prstGeom prst="ellipse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60704" y="1362456"/>
            <a:ext cx="292608" cy="292608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070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Kaggle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Data Collection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26464" y="1828800"/>
            <a:ext cx="292608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27632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39112" y="1417320"/>
            <a:ext cx="822960" cy="822960"/>
          </a:xfrm>
          <a:prstGeom prst="ellipse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3911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523744" y="1362456"/>
            <a:ext cx="292608" cy="29260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2374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1907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MS Excel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907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Data Cleaning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9504" y="1828800"/>
            <a:ext cx="292608" cy="0"/>
          </a:xfrm>
          <a:prstGeom prst="line">
            <a:avLst/>
          </a:prstGeom>
          <a:noFill/>
          <a:ln w="317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090672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502152" y="1417320"/>
            <a:ext cx="822960" cy="822960"/>
          </a:xfrm>
          <a:prstGeom prst="ellipse">
            <a:avLst/>
          </a:prstGeom>
          <a:solidFill>
            <a:srgbClr val="E74C3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0215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986784" y="1362456"/>
            <a:ext cx="292608" cy="29260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98678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8211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AWS RDS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18211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ETL &amp; Upload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52544" y="1828800"/>
            <a:ext cx="292608" cy="0"/>
          </a:xfrm>
          <a:prstGeom prst="line">
            <a:avLst/>
          </a:prstGeom>
          <a:noFill/>
          <a:ln w="3175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53712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65192" y="1417320"/>
            <a:ext cx="822960" cy="822960"/>
          </a:xfrm>
          <a:prstGeom prst="ellipse">
            <a:avLst/>
          </a:prstGeom>
          <a:solidFill>
            <a:srgbClr val="9B59B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6519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449824" y="1362456"/>
            <a:ext cx="292608" cy="29260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4982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4515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SQL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4515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Analysis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15584" y="1828800"/>
            <a:ext cx="292608" cy="0"/>
          </a:xfrm>
          <a:prstGeom prst="line">
            <a:avLst/>
          </a:prstGeom>
          <a:noFill/>
          <a:ln w="3175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16752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59B6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28232" y="1417320"/>
            <a:ext cx="822960" cy="822960"/>
          </a:xfrm>
          <a:prstGeom prst="ellipse">
            <a:avLst/>
          </a:prstGeom>
          <a:solidFill>
            <a:srgbClr val="00C4C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2823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912864" y="1362456"/>
            <a:ext cx="292608" cy="292608"/>
          </a:xfrm>
          <a:prstGeom prst="ellipse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1286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0819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0819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EDA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78624" y="1828800"/>
            <a:ext cx="292608" cy="0"/>
          </a:xfrm>
          <a:prstGeom prst="line">
            <a:avLst/>
          </a:prstGeom>
          <a:noFill/>
          <a:ln w="3175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479792" y="1691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4CC"/>
                </a:solidFill>
              </a:rPr>
              <a:t>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891272" y="1417320"/>
            <a:ext cx="822960" cy="822960"/>
          </a:xfrm>
          <a:prstGeom prst="ellipse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91272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47" name="Shape 45"/>
          <p:cNvSpPr/>
          <p:nvPr/>
        </p:nvSpPr>
        <p:spPr>
          <a:xfrm>
            <a:off x="8375904" y="1362456"/>
            <a:ext cx="292608" cy="29260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75904" y="1362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571232" y="231343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Power BI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571232" y="258775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0"/>
                </a:solidFill>
              </a:rPr>
              <a:t>Dashboard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603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4747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Extract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4747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Download CSV files from Kaggle retail dataset repository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71907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81051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Clean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81051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Remove duplicates, handle nulls, standardize formats in Excel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18211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27355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Transform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7355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ETL design, schema creation, load to AWS-hosted SQL database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4515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3659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Analyze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73659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SQL queries for KPIs, aggregations, JOINs, CTEs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10819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19963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Explore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9963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Python EDA — distributions, correlations, trend analysis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571232" y="3035808"/>
            <a:ext cx="1389888" cy="16459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662672" y="3127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Visualize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7662672" y="34290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</a:rPr>
              <a:t>Interactive Power BI dashboard with filters and drilldowns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1  ›  DATA CLEANING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</a:rPr>
              <a:t>Data Cleaning &amp; Preprocessing in MS Excel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788920" cy="38404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🗑️  Duplicate Removal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Identified and removed duplicate OrderIDs and CustomerIDs to prevent double-counting in analysis.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88920" cy="38404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Null Value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8288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Missing values imputed, removed, or replaced based on context (dates, freight, customer info).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13716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44768" y="1371600"/>
            <a:ext cx="2788920" cy="38404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13716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 Date Standardization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54496" y="18288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Ensured consistent DD/MM/YYYY format across OrderDate, ShippedDate, and RequiredDate columns.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29718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" y="2971800"/>
            <a:ext cx="2788920" cy="38404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" y="2971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🔡  Text Normalization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Standardized text case, trimmed whitespace, and corrected misspellings in category/product names.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29718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0" y="2971800"/>
            <a:ext cx="2788920" cy="38404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91840" y="2971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🏗️  Column Standardization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0128" y="34290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Renamed columns for SQL compatibility — removed spaces, special characters, ensured unique keys.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2971800"/>
            <a:ext cx="2788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44768" y="2971800"/>
            <a:ext cx="2788920" cy="38404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29718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💱  Data Type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3429000"/>
            <a:ext cx="25786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Converted UnitPrice, Freight, Quantity to numeric; validated referential integrity across tables.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Result: Clean, validated, SQL-ready dataset exported from Excel into structured CSV format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2  ›  ETL &amp; CLOUD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</a:rPr>
              <a:t>ETL Pipeline &amp; AWS Cloud Database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1005840" cy="960120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53312" y="1499616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53312" y="1499616"/>
            <a:ext cx="54864" cy="74980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81328" y="153619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Read cleaned CSV files from Excel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Validate structure &amp; record counts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Prepare for transformation stage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377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73E8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1005840" cy="960120"/>
          </a:xfrm>
          <a:prstGeom prst="rect">
            <a:avLst/>
          </a:prstGeom>
          <a:solidFill>
            <a:srgbClr val="F5A62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505456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TRANSFORM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353312" y="2615184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353312" y="2615184"/>
            <a:ext cx="54864" cy="74980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81328" y="26517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Define Star Schema relationships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Create dimension &amp; fact table keys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Apply data type casting &amp; constraints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49300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A623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21024"/>
            <a:ext cx="1005840" cy="960120"/>
          </a:xfrm>
          <a:prstGeom prst="rect">
            <a:avLst/>
          </a:prstGeom>
          <a:solidFill>
            <a:srgbClr val="27AE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621024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LOAD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353312" y="3730752"/>
            <a:ext cx="32004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353312" y="3730752"/>
            <a:ext cx="54864" cy="74980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81328" y="376732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Provision AWS RDS / SQL database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Import transformed data via SQL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Verify row counts &amp; integrity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53312"/>
            <a:ext cx="4114800" cy="356616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4114800" cy="43891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3533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</a:rPr>
              <a:t>☁  AWS CLOUD ENVIRONMENT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187452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🗄️  Database: AWS RDS / MySQL hosted instance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35000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🔐  Secure connection via credentials &amp; endpoint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825496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📡  Remote SQL access from local workstation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300984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📁  Tables: orders, customers, products, categories, shippers, order_details, Fact_Sales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77647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🔑  Primary Keys &amp; Foreign Keys established for all tables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4251960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8EC"/>
                </a:solidFill>
              </a:rPr>
              <a:t>✅  Data validation queries ran post-load to verify integrity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☁  Cloud Advantage: Scalable, secure, accessible database infrastructure on AWS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3  ›  DATA MODELING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</a:rPr>
              <a:t>Star Schema Design — Fact &amp; Dimension Tables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920240"/>
            <a:ext cx="2194560" cy="1828800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9202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⭐  FACT_SALES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47872" y="2331720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4CC"/>
                </a:solidFill>
              </a:rPr>
              <a:t>OrderID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47872" y="2505456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4CC"/>
                </a:solidFill>
              </a:rPr>
              <a:t>ProductID (FK)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47872" y="267919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4CC"/>
                </a:solidFill>
              </a:rPr>
              <a:t>CustomerID (FK)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47872" y="285292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4CC"/>
                </a:solidFill>
              </a:rPr>
              <a:t>ShipperID (FK)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47872" y="3026664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Quantity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47872" y="3200400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UnitPrice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47872" y="3374136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Discount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47872" y="3547872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8FF"/>
                </a:solidFill>
              </a:rPr>
              <a:t>SalesAmount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" y="12801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7160" y="1280160"/>
            <a:ext cx="2377440" cy="347472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DIM_ORDERS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" y="16824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OrderID (PK)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6888" y="18836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OrderDate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" y="20848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Freight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6888" y="22860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ShipperID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" y="32004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7160" y="3200400"/>
            <a:ext cx="2377440" cy="34747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DIM_CUSTOMERS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" y="36027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CustomerID (PK)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6888" y="3803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CompanyName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" y="40050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6888" y="420624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Country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0" y="128016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1280160"/>
            <a:ext cx="2377440" cy="34747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DIM_PRODUCTS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0528" y="16824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ProductID (PK)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10528" y="188366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ProductName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10528" y="208483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UnitPrice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10528" y="22860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CategoryID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200400"/>
            <a:ext cx="23774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400800" y="3200400"/>
            <a:ext cx="2377440" cy="34747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0" y="3200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DIM_CATEGORIES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10528" y="360273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CategoryID (PK)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10528" y="38039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CategoryName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10528" y="400507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B3A"/>
                </a:solidFill>
              </a:rPr>
              <a:t>Description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14600" y="1965960"/>
            <a:ext cx="96012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514600" y="3886200"/>
            <a:ext cx="960120" cy="0"/>
          </a:xfrm>
          <a:prstGeom prst="line">
            <a:avLst/>
          </a:prstGeom>
          <a:noFill/>
          <a:ln w="19050">
            <a:solidFill>
              <a:srgbClr val="27AE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69280" y="1965960"/>
            <a:ext cx="731520" cy="0"/>
          </a:xfrm>
          <a:prstGeom prst="line">
            <a:avLst/>
          </a:prstGeom>
          <a:noFill/>
          <a:ln w="19050">
            <a:solidFill>
              <a:srgbClr val="9B59B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69280" y="3886200"/>
            <a:ext cx="73152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7C93"/>
                </a:solidFill>
              </a:rPr>
              <a:t>★ Created Fact_Sales by combining order_details with orders, customers &amp; products using SQL JOINs and Python — used as the central table for both SQL analysis and Power BI Star Schema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4  ›  SQL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B3A"/>
                </a:solidFill>
              </a:rPr>
              <a:t>Data Analysis Using SQL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89888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0624" y="14264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Aggregate Functions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" y="1664208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SUM, AVG, COUNT, ROUND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24912" y="1389888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24912" y="1389888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71216" y="1426464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GROUP BY / ORDER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71216" y="1664208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Category &amp; product ranking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048256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0624" y="208483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JOINs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" y="232257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INNER, LEFT across 5 tables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4912" y="2048256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24912" y="2048256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871216" y="2084832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CTEs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71216" y="2322576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Common Table Expressions for sub-queries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706624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706624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20624" y="2743200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Window Functions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" y="2980944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Running totals &amp; monthly trends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24912" y="2706624"/>
            <a:ext cx="22860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24912" y="2706624"/>
            <a:ext cx="54864" cy="5486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871216" y="2743200"/>
            <a:ext cx="2084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HAVING Clause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71216" y="2980944"/>
            <a:ext cx="20848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Filter aggregated results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0" y="1353312"/>
            <a:ext cx="3840480" cy="3200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29200" y="1353312"/>
            <a:ext cx="3840480" cy="38404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13533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KEY KPIs DERIVED FROM SQL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18288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Total Revenue: $1.27M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66360" y="21579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Total Orders: 830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4871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Total Customers: 89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816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Top Product: Côte de Blaye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31455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Top Category: Beverages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4747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Best Month: April 2014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80390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Avg Order Value: ~$1,525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413308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4CC"/>
                </a:solidFill>
              </a:rPr>
              <a:t>▸  </a:t>
            </a:r>
            <a:r>
              <a:rPr lang="en-US" sz="1100" dirty="0">
                <a:solidFill>
                  <a:srgbClr val="C4D8EC"/>
                </a:solidFill>
              </a:rPr>
              <a:t>Growth Rate: YoY trend analyzed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4645152"/>
            <a:ext cx="1078992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6451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$1.27M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4320" y="482803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Total Revenue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463040" y="4645152"/>
            <a:ext cx="1078992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463040" y="46451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830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463040" y="482803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Total Orders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651760" y="4645152"/>
            <a:ext cx="1078992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51760" y="46451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2651760" y="482803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Customers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840480" y="4645152"/>
            <a:ext cx="1078992" cy="384048"/>
          </a:xfrm>
          <a:prstGeom prst="rect">
            <a:avLst/>
          </a:prstGeom>
          <a:solidFill>
            <a:srgbClr val="1A73E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840480" y="46451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77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840480" y="482803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E8FF"/>
                </a:solidFill>
              </a:rPr>
              <a:t>Products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5  ›  PYTHON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3A"/>
                </a:solidFill>
              </a:rPr>
              <a:t>Exploratory Data Analysis — Python (Google Colab)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353312"/>
            <a:ext cx="41148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53312"/>
            <a:ext cx="4114800" cy="384048"/>
          </a:xfrm>
          <a:prstGeom prst="rect">
            <a:avLst/>
          </a:prstGeom>
          <a:solidFill>
            <a:srgbClr val="357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3533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🐍  PYTHON LIBRARIES USED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847088"/>
            <a:ext cx="1005840" cy="402336"/>
          </a:xfrm>
          <a:prstGeom prst="rect">
            <a:avLst/>
          </a:prstGeom>
          <a:solidFill>
            <a:srgbClr val="3572A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84708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44752" y="1883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Data manipulation, merging, groupby aggregations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395728"/>
            <a:ext cx="1005840" cy="402336"/>
          </a:xfrm>
          <a:prstGeom prst="rect">
            <a:avLst/>
          </a:prstGeom>
          <a:solidFill>
            <a:srgbClr val="3572A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23957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44752" y="24323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Numerical computations and array operations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1005840" cy="402336"/>
          </a:xfrm>
          <a:prstGeom prst="rect">
            <a:avLst/>
          </a:prstGeom>
          <a:solidFill>
            <a:srgbClr val="3572A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9443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Matplotlib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4752" y="2980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Static visualizations — bar, line, pie charts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3493008"/>
            <a:ext cx="1005840" cy="402336"/>
          </a:xfrm>
          <a:prstGeom prst="rect">
            <a:avLst/>
          </a:prstGeom>
          <a:solidFill>
            <a:srgbClr val="3572A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34930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Seaborn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4752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Statistical plots — heatmaps, boxplots, distributions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041648"/>
            <a:ext cx="1005840" cy="402336"/>
          </a:xfrm>
          <a:prstGeom prst="rect">
            <a:avLst/>
          </a:prstGeom>
          <a:solidFill>
            <a:srgbClr val="3572A5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4041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Plotly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44752" y="40782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Interactive charts and trend visualizations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353312"/>
            <a:ext cx="4315968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1353312"/>
            <a:ext cx="4315968" cy="38404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0" y="1353312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2D"/>
                </a:solidFill>
              </a:rPr>
              <a:t>🔍  ANALYSIS PERFORMED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181051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Sales distribution by category &amp; product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1945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Monthly revenue trend analysis (time series)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25786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Customer order frequency &amp; value segmentation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9626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Discount impact on revenue &amp; profit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334670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Top 10 customers by total purchase value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373075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Correlation heatmap — price, quantity, discount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1148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Geographical sales distribution by country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18304" y="438318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C4CC"/>
                </a:solidFill>
              </a:rPr>
              <a:t>◆  </a:t>
            </a:r>
            <a:r>
              <a:rPr lang="en-US" sz="1100" dirty="0">
                <a:solidFill>
                  <a:srgbClr val="1C2B3A"/>
                </a:solidFill>
              </a:rPr>
              <a:t>Shipper performance &amp; freight cost analysis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solidFill>
            <a:srgbClr val="357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56032" y="4663440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📓  Delivered as Google Colab (.ipynb) with inline charts, markdown explanations &amp; code comments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6  ›  VISUALIZATION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Power BI Interactive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8631936" cy="3200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56032" y="1325880"/>
            <a:ext cx="8631936" cy="38404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POWER BI  |  Retail Sales &amp; Customer Analysis Dashboard {Executive Summary}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64608" y="3017520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64608" y="317296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64608" y="332841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64608" y="3483864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64608" y="363931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64608" y="395020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64608" y="410565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663440" y="3017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663440" y="3364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663440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663440" y="4059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Final .pbix file published with interactive filters, drill-through, and KPI cards for management reporting</a:t>
            </a:r>
            <a:endParaRPr lang="en-US" sz="1100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99B404A-0A1E-9E2F-D755-ED504649F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2" y="1709928"/>
            <a:ext cx="8626119" cy="2816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2B8037-CAB0-03D7-E90B-B4D03EBEA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B575FD-454C-579E-4AED-0B16B6A7818A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A2035C-3035-0188-BF53-20E421FFBF55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6  ›  VISUALIZATION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31238B-9C06-93EA-FB3C-67FED4107EBD}"/>
              </a:ext>
            </a:extLst>
          </p:cNvPr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Power BI Interactive Dashboard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43BAE6-1E4C-0EAA-0623-9F2E624558D7}"/>
              </a:ext>
            </a:extLst>
          </p:cNvPr>
          <p:cNvSpPr/>
          <p:nvPr/>
        </p:nvSpPr>
        <p:spPr>
          <a:xfrm>
            <a:off x="256032" y="1325880"/>
            <a:ext cx="8631936" cy="3200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068CB0A-675F-9DEE-1D3B-8208486061CF}"/>
              </a:ext>
            </a:extLst>
          </p:cNvPr>
          <p:cNvSpPr/>
          <p:nvPr/>
        </p:nvSpPr>
        <p:spPr>
          <a:xfrm>
            <a:off x="256032" y="1325880"/>
            <a:ext cx="8631936" cy="38404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E9FE097-B91D-B31A-14EB-B6598FE749FF}"/>
              </a:ext>
            </a:extLst>
          </p:cNvPr>
          <p:cNvSpPr/>
          <p:nvPr/>
        </p:nvSpPr>
        <p:spPr>
          <a:xfrm>
            <a:off x="347472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F1B2D"/>
                </a:solidFill>
              </a:rPr>
              <a:t>⚡  POWER BI  |  Retail Sales &amp; Customer Analysis Dashboard {Sales Analysis}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A4AF635-631D-6F9A-A4D5-A1CB8E6BF52D}"/>
              </a:ext>
            </a:extLst>
          </p:cNvPr>
          <p:cNvSpPr/>
          <p:nvPr/>
        </p:nvSpPr>
        <p:spPr>
          <a:xfrm>
            <a:off x="46634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8835A33-C667-3963-AD05-8A2047176319}"/>
              </a:ext>
            </a:extLst>
          </p:cNvPr>
          <p:cNvSpPr/>
          <p:nvPr/>
        </p:nvSpPr>
        <p:spPr>
          <a:xfrm>
            <a:off x="4864608" y="3017520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519A72A-DE11-A24E-67DC-955821CF564A}"/>
              </a:ext>
            </a:extLst>
          </p:cNvPr>
          <p:cNvSpPr/>
          <p:nvPr/>
        </p:nvSpPr>
        <p:spPr>
          <a:xfrm>
            <a:off x="4864608" y="317296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1340198-5F1E-9246-6F36-E144D553FFCD}"/>
              </a:ext>
            </a:extLst>
          </p:cNvPr>
          <p:cNvSpPr/>
          <p:nvPr/>
        </p:nvSpPr>
        <p:spPr>
          <a:xfrm>
            <a:off x="4864608" y="332841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DD7BD476-7D5B-713C-0A10-CB9946BCD562}"/>
              </a:ext>
            </a:extLst>
          </p:cNvPr>
          <p:cNvSpPr/>
          <p:nvPr/>
        </p:nvSpPr>
        <p:spPr>
          <a:xfrm>
            <a:off x="4864608" y="3483864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B9D2A6C3-04D7-71DF-A8D0-BC0AF006CE24}"/>
              </a:ext>
            </a:extLst>
          </p:cNvPr>
          <p:cNvSpPr/>
          <p:nvPr/>
        </p:nvSpPr>
        <p:spPr>
          <a:xfrm>
            <a:off x="4864608" y="363931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ADF13E2-5DCC-2239-C18F-9BCC7E35CD54}"/>
              </a:ext>
            </a:extLst>
          </p:cNvPr>
          <p:cNvSpPr/>
          <p:nvPr/>
        </p:nvSpPr>
        <p:spPr>
          <a:xfrm>
            <a:off x="4864608" y="395020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C23B489-3761-74D6-60E3-E3D8492A5F97}"/>
              </a:ext>
            </a:extLst>
          </p:cNvPr>
          <p:cNvSpPr/>
          <p:nvPr/>
        </p:nvSpPr>
        <p:spPr>
          <a:xfrm>
            <a:off x="4864608" y="410565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CC19040-ED81-E4BB-DDFC-D07294EBD7BD}"/>
              </a:ext>
            </a:extLst>
          </p:cNvPr>
          <p:cNvSpPr/>
          <p:nvPr/>
        </p:nvSpPr>
        <p:spPr>
          <a:xfrm>
            <a:off x="4663440" y="3017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4628350-E824-D3D9-0654-3792A9E3A11D}"/>
              </a:ext>
            </a:extLst>
          </p:cNvPr>
          <p:cNvSpPr/>
          <p:nvPr/>
        </p:nvSpPr>
        <p:spPr>
          <a:xfrm>
            <a:off x="4663440" y="3364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FFD682A-A69E-C10E-1EDB-5DB1A80AC00B}"/>
              </a:ext>
            </a:extLst>
          </p:cNvPr>
          <p:cNvSpPr/>
          <p:nvPr/>
        </p:nvSpPr>
        <p:spPr>
          <a:xfrm>
            <a:off x="4663440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F7F65EA-AB51-B46C-1E91-4DE63BDF84DA}"/>
              </a:ext>
            </a:extLst>
          </p:cNvPr>
          <p:cNvSpPr/>
          <p:nvPr/>
        </p:nvSpPr>
        <p:spPr>
          <a:xfrm>
            <a:off x="4663440" y="4059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84BCD41-5A1B-467C-1378-DD3847A1F697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255D6A9-830F-2B3D-5734-6235CAC338E4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Final .pbix file published with interactive filters, drill-through, and KPI cards for management reporting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AF7A40-E503-6177-352D-BE1C04A3A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709928"/>
            <a:ext cx="8631936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39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CA6DB-D3CB-20B1-AF34-9C822737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5EDDE7-1663-2E59-E17E-BE559040DECD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808353-50A0-D768-1E9B-50686AAAED38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6  ›  VISUALIZATION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7C930D9-1511-2BE2-2295-61EB5C6A81B3}"/>
              </a:ext>
            </a:extLst>
          </p:cNvPr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Power BI Interactive Dashboard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3C68E5-B5C9-DAE7-B7D3-D3AA862BA771}"/>
              </a:ext>
            </a:extLst>
          </p:cNvPr>
          <p:cNvSpPr/>
          <p:nvPr/>
        </p:nvSpPr>
        <p:spPr>
          <a:xfrm>
            <a:off x="256032" y="1325880"/>
            <a:ext cx="8631936" cy="3200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C5EA346-41B7-148A-57F5-93BFC86A6D33}"/>
              </a:ext>
            </a:extLst>
          </p:cNvPr>
          <p:cNvSpPr/>
          <p:nvPr/>
        </p:nvSpPr>
        <p:spPr>
          <a:xfrm>
            <a:off x="256032" y="1325880"/>
            <a:ext cx="8631936" cy="38404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E0520D-86F0-AE24-D08B-9F5604D4C2A2}"/>
              </a:ext>
            </a:extLst>
          </p:cNvPr>
          <p:cNvSpPr/>
          <p:nvPr/>
        </p:nvSpPr>
        <p:spPr>
          <a:xfrm>
            <a:off x="347472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POWER BI  |  Retail Sales &amp; Customer Analysis Dashboard { Customer Analysis }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0B357C8-9657-B39F-76D1-F75193E06502}"/>
              </a:ext>
            </a:extLst>
          </p:cNvPr>
          <p:cNvSpPr/>
          <p:nvPr/>
        </p:nvSpPr>
        <p:spPr>
          <a:xfrm>
            <a:off x="46634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8890315-5189-BFEB-1B27-2086FE76EF2E}"/>
              </a:ext>
            </a:extLst>
          </p:cNvPr>
          <p:cNvSpPr/>
          <p:nvPr/>
        </p:nvSpPr>
        <p:spPr>
          <a:xfrm>
            <a:off x="4864608" y="3017520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EF19FC9F-6580-7C6B-A8A7-D0D4F1DBEFDB}"/>
              </a:ext>
            </a:extLst>
          </p:cNvPr>
          <p:cNvSpPr/>
          <p:nvPr/>
        </p:nvSpPr>
        <p:spPr>
          <a:xfrm>
            <a:off x="4864608" y="317296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8B0D1B7-71EE-EA5F-C8F6-C3728D2B6410}"/>
              </a:ext>
            </a:extLst>
          </p:cNvPr>
          <p:cNvSpPr/>
          <p:nvPr/>
        </p:nvSpPr>
        <p:spPr>
          <a:xfrm>
            <a:off x="4864608" y="332841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78E451B-4FD3-04C1-8748-F5FF61F2D8D3}"/>
              </a:ext>
            </a:extLst>
          </p:cNvPr>
          <p:cNvSpPr/>
          <p:nvPr/>
        </p:nvSpPr>
        <p:spPr>
          <a:xfrm>
            <a:off x="4864608" y="3483864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0488D0D-0000-8E03-9B0F-92C9F82D3AD1}"/>
              </a:ext>
            </a:extLst>
          </p:cNvPr>
          <p:cNvSpPr/>
          <p:nvPr/>
        </p:nvSpPr>
        <p:spPr>
          <a:xfrm>
            <a:off x="4864608" y="363931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4D6E32F-24DA-0761-C22D-5456264BBEB0}"/>
              </a:ext>
            </a:extLst>
          </p:cNvPr>
          <p:cNvSpPr/>
          <p:nvPr/>
        </p:nvSpPr>
        <p:spPr>
          <a:xfrm>
            <a:off x="4864608" y="395020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A93715CA-0579-8D9D-4946-B5BDDD149E77}"/>
              </a:ext>
            </a:extLst>
          </p:cNvPr>
          <p:cNvSpPr/>
          <p:nvPr/>
        </p:nvSpPr>
        <p:spPr>
          <a:xfrm>
            <a:off x="4864608" y="410565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1F5477E-FE3E-1F94-4089-AE606373931F}"/>
              </a:ext>
            </a:extLst>
          </p:cNvPr>
          <p:cNvSpPr/>
          <p:nvPr/>
        </p:nvSpPr>
        <p:spPr>
          <a:xfrm>
            <a:off x="4663440" y="3017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99EDDB1-CBAD-CCEF-6515-D9785289FAFD}"/>
              </a:ext>
            </a:extLst>
          </p:cNvPr>
          <p:cNvSpPr/>
          <p:nvPr/>
        </p:nvSpPr>
        <p:spPr>
          <a:xfrm>
            <a:off x="4663440" y="3364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437DC0F-9000-384A-BEDA-F2621DD7A86A}"/>
              </a:ext>
            </a:extLst>
          </p:cNvPr>
          <p:cNvSpPr/>
          <p:nvPr/>
        </p:nvSpPr>
        <p:spPr>
          <a:xfrm>
            <a:off x="4663440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22C43E9-FA42-F083-0391-01BEC4135364}"/>
              </a:ext>
            </a:extLst>
          </p:cNvPr>
          <p:cNvSpPr/>
          <p:nvPr/>
        </p:nvSpPr>
        <p:spPr>
          <a:xfrm>
            <a:off x="4663440" y="4059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31BDE612-CFA8-A231-7F20-F67862341771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EF70625F-7378-6D7E-36B1-967BBF4BF049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Final .pbix file published with interactive filters, drill-through, and KPI cards for management reporting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F42B76-CAE4-BDB7-686D-75DDEA1F8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3" y="1709929"/>
            <a:ext cx="8631936" cy="281635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F644D883-4CB2-2DC8-A648-5C553503C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overall KPIs like revenue, orders,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quick business performance overview </a:t>
            </a:r>
          </a:p>
        </p:txBody>
      </p:sp>
    </p:spTree>
    <p:extLst>
      <p:ext uri="{BB962C8B-B14F-4D97-AF65-F5344CB8AC3E}">
        <p14:creationId xmlns:p14="http://schemas.microsoft.com/office/powerpoint/2010/main" val="1237378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280B1-4B8C-B585-1CD8-06B068CB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E1281C-127C-3848-F1DC-EA7A95AAC4C2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F18EDC3-E14E-673F-27B3-2F83903A8C4F}"/>
              </a:ext>
            </a:extLst>
          </p:cNvPr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STEP 6  ›  VISUALIZATION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251059-88FB-493F-0ECA-EDD7E860D1A4}"/>
              </a:ext>
            </a:extLst>
          </p:cNvPr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Power BI Interactive Dashboard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79E58BE-F2C4-A800-CB15-6D146FEF41D2}"/>
              </a:ext>
            </a:extLst>
          </p:cNvPr>
          <p:cNvSpPr/>
          <p:nvPr/>
        </p:nvSpPr>
        <p:spPr>
          <a:xfrm>
            <a:off x="256032" y="1325880"/>
            <a:ext cx="8631936" cy="3200400"/>
          </a:xfrm>
          <a:prstGeom prst="rect">
            <a:avLst/>
          </a:prstGeom>
          <a:solidFill>
            <a:srgbClr val="0F1B2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CC3917-D167-8957-F2E5-147CABD0ACAF}"/>
              </a:ext>
            </a:extLst>
          </p:cNvPr>
          <p:cNvSpPr/>
          <p:nvPr/>
        </p:nvSpPr>
        <p:spPr>
          <a:xfrm>
            <a:off x="256032" y="1325880"/>
            <a:ext cx="8631936" cy="384048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35FFE94-065C-EF32-6CAE-33BB14799A14}"/>
              </a:ext>
            </a:extLst>
          </p:cNvPr>
          <p:cNvSpPr/>
          <p:nvPr/>
        </p:nvSpPr>
        <p:spPr>
          <a:xfrm>
            <a:off x="347472" y="132588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0F1B2D"/>
                </a:solidFill>
              </a:rPr>
              <a:t>⚡  POWER BI  |  Retail Sales &amp; Customer Analysis Dashboard {Product &amp; Category Analysis}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A1C6C45-378B-5021-9C13-B4C105B54094}"/>
              </a:ext>
            </a:extLst>
          </p:cNvPr>
          <p:cNvSpPr/>
          <p:nvPr/>
        </p:nvSpPr>
        <p:spPr>
          <a:xfrm>
            <a:off x="4663440" y="2651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CFFA7D3-F872-3380-2BA7-915F11373937}"/>
              </a:ext>
            </a:extLst>
          </p:cNvPr>
          <p:cNvSpPr/>
          <p:nvPr/>
        </p:nvSpPr>
        <p:spPr>
          <a:xfrm>
            <a:off x="4864608" y="3017520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A34D84D-BD04-9D5F-38E1-F3B9F302958A}"/>
              </a:ext>
            </a:extLst>
          </p:cNvPr>
          <p:cNvSpPr/>
          <p:nvPr/>
        </p:nvSpPr>
        <p:spPr>
          <a:xfrm>
            <a:off x="4864608" y="317296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F8FFB50E-FBCD-2F44-FA3D-2456062BBF18}"/>
              </a:ext>
            </a:extLst>
          </p:cNvPr>
          <p:cNvSpPr/>
          <p:nvPr/>
        </p:nvSpPr>
        <p:spPr>
          <a:xfrm>
            <a:off x="4864608" y="332841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44B750C-6793-AADD-C439-841EAB18BDF3}"/>
              </a:ext>
            </a:extLst>
          </p:cNvPr>
          <p:cNvSpPr/>
          <p:nvPr/>
        </p:nvSpPr>
        <p:spPr>
          <a:xfrm>
            <a:off x="4864608" y="3483864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6238709-43FC-33A8-80B7-80C03C37DC65}"/>
              </a:ext>
            </a:extLst>
          </p:cNvPr>
          <p:cNvSpPr/>
          <p:nvPr/>
        </p:nvSpPr>
        <p:spPr>
          <a:xfrm>
            <a:off x="4864608" y="3639312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6D7D9BF9-CDED-6C9A-0E0E-4C987CC737B6}"/>
              </a:ext>
            </a:extLst>
          </p:cNvPr>
          <p:cNvSpPr/>
          <p:nvPr/>
        </p:nvSpPr>
        <p:spPr>
          <a:xfrm>
            <a:off x="4864608" y="3950208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2834369-F623-80B2-F165-7509E4EE3236}"/>
              </a:ext>
            </a:extLst>
          </p:cNvPr>
          <p:cNvSpPr/>
          <p:nvPr/>
        </p:nvSpPr>
        <p:spPr>
          <a:xfrm>
            <a:off x="4864608" y="4105656"/>
            <a:ext cx="16459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2C5230D5-9DD8-6219-6D77-D25332B92FBF}"/>
              </a:ext>
            </a:extLst>
          </p:cNvPr>
          <p:cNvSpPr/>
          <p:nvPr/>
        </p:nvSpPr>
        <p:spPr>
          <a:xfrm>
            <a:off x="4663440" y="30175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A4AAF2E-EF9F-D49F-2801-BE29FBF19D2C}"/>
              </a:ext>
            </a:extLst>
          </p:cNvPr>
          <p:cNvSpPr/>
          <p:nvPr/>
        </p:nvSpPr>
        <p:spPr>
          <a:xfrm>
            <a:off x="4663440" y="33649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2F414921-94FC-E956-19D2-C5FCC775B202}"/>
              </a:ext>
            </a:extLst>
          </p:cNvPr>
          <p:cNvSpPr/>
          <p:nvPr/>
        </p:nvSpPr>
        <p:spPr>
          <a:xfrm>
            <a:off x="4663440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C15C19A-71A4-1394-75D0-C504A568DA41}"/>
              </a:ext>
            </a:extLst>
          </p:cNvPr>
          <p:cNvSpPr/>
          <p:nvPr/>
        </p:nvSpPr>
        <p:spPr>
          <a:xfrm>
            <a:off x="4663440" y="405993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0586765-A97F-51AE-B445-C1265EFAC761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E1A7F0A-78F1-F94A-6614-7458F85B420A}"/>
              </a:ext>
            </a:extLst>
          </p:cNvPr>
          <p:cNvSpPr/>
          <p:nvPr/>
        </p:nvSpPr>
        <p:spPr>
          <a:xfrm>
            <a:off x="256032" y="4645152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D"/>
                </a:solidFill>
              </a:rPr>
              <a:t>⚡  Final .pbix file published with interactive filters, drill-through, and KPI cards for management reporting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3202ED-CB50-61C3-EE7C-BF9AECF2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709928"/>
            <a:ext cx="8613647" cy="2816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32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FINDINGS &amp;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Key Business Insights Discovered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438912" cy="102412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" y="1389888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4813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Beverages Lead Revenue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75564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Beverages is the top-grossing category, contributing the highest share of total sales across all periods.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18304" y="1389888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18304" y="1389888"/>
            <a:ext cx="438912" cy="1024128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18304" y="1389888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66944" y="14813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Top Customer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66944" y="1755648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Top 10 customers account for a disproportionate share of revenue — key accounts need dedicated retention strategies.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560320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560320"/>
            <a:ext cx="438912" cy="1024128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2560320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Seasonal Revenue Peaks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9260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Sales peak in Q1 and Q4, with noticeable mid-year dips — inventory &amp; promotions should align with seasonality.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18304" y="2560320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18304" y="2560320"/>
            <a:ext cx="438912" cy="10241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18304" y="2560320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Discount Impact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66944" y="292608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High discount rates do not always correlate with higher quantity sold — some discounts erode margins without boosting volume.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56032" y="3730752"/>
            <a:ext cx="438912" cy="10241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56032" y="3730752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38221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Geographic Concentration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409651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Europe (Germany, USA, France) drives majority of orders — international expansion opportunities exist in Asia-Pacific.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18304" y="3730752"/>
            <a:ext cx="420624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18304" y="3730752"/>
            <a:ext cx="438912" cy="102412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18304" y="3730752"/>
            <a:ext cx="4389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66944" y="38221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Speedy Express Dominates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66944" y="409651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Shipper #1 (Speedy Express) handles the largest freight volume — over-dependence poses a supply chain risk.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STRATEGIC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</a:rPr>
              <a:t>Actionable Business Recommendations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14813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Customer Retention Program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4672" y="1865376"/>
            <a:ext cx="658368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18653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Launch loyalty programs targeting top 10 customers. Personalized offers for high-LTV accounts to reduce churn risk.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389888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28416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14813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Inventory Optimization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67328" y="1865376"/>
            <a:ext cx="658368" cy="1828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67328" y="18653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28416" y="21031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Align stock levels with Q1/Q4 seasonal peaks. Reduce overstock during mid-year slow periods to cut holding costs.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389888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1481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9984" y="148132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Smart Discount Strategy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9984" y="1865376"/>
            <a:ext cx="658368" cy="182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9984" y="18653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291072" y="210312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Review discount policies — limit deep discounts that reduce margins without proportional volume gains.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" y="2962656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" y="30540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Market Expansion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4672" y="3438144"/>
            <a:ext cx="658368" cy="182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4672" y="3438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3675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Explore growth in Asia-Pacific and emerging markets where order density is currently low despite global potential.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2962656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28416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🚛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767328" y="30540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Diversify Logistics Partners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67328" y="3438144"/>
            <a:ext cx="658368" cy="1828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767328" y="3438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28416" y="3675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Reduce dependence on Speedy Express by qualifying backup shippers to mitigate supply chain disruption risk.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2962656"/>
            <a:ext cx="2788920" cy="144475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91072" y="30540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729984" y="30540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3A"/>
                </a:solidFill>
              </a:rPr>
              <a:t>Real-Time Dashboard Adoption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9984" y="3438144"/>
            <a:ext cx="658368" cy="1828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29984" y="3438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291072" y="36758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C93"/>
                </a:solidFill>
              </a:rPr>
              <a:t>Roll out Power BI dashboard across sales &amp; management teams for ongoing monitoring and self-service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CC"/>
                </a:solidFill>
              </a:rPr>
              <a:t>TECHNOLOGY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</a:rPr>
              <a:t>Tools &amp; 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788920" cy="45720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☁️  Kaggle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901952"/>
            <a:ext cx="1463040" cy="201168"/>
          </a:xfrm>
          <a:prstGeom prst="rect">
            <a:avLst/>
          </a:prstGeom>
          <a:solidFill>
            <a:srgbClr val="1A73E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3E8"/>
                </a:solidFill>
              </a:rPr>
              <a:t>Data Source &amp; Collection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176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Open-source retail dataset downloaded in CSV format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8688" y="137160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371600"/>
            <a:ext cx="2788920" cy="457200"/>
          </a:xfrm>
          <a:prstGeom prst="rect">
            <a:avLst/>
          </a:prstGeom>
          <a:solidFill>
            <a:srgbClr val="2173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 MS Excel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10128" y="1901952"/>
            <a:ext cx="1463040" cy="201168"/>
          </a:xfrm>
          <a:prstGeom prst="rect">
            <a:avLst/>
          </a:prstGeom>
          <a:solidFill>
            <a:srgbClr val="21734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7346"/>
                </a:solidFill>
              </a:rPr>
              <a:t>Data Cleaning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176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Preprocessing, deduplication, format standardization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37160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81344" y="1371600"/>
            <a:ext cx="2788920" cy="4572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371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AWS 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2784" y="1901952"/>
            <a:ext cx="1463040" cy="201168"/>
          </a:xfrm>
          <a:prstGeom prst="rect">
            <a:avLst/>
          </a:prstGeom>
          <a:solidFill>
            <a:srgbClr val="FF99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72784" y="19019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Cloud Database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72784" y="2176272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Hosted MySQL/SQL database for ETL and storage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299923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56032" y="2999232"/>
            <a:ext cx="2788920" cy="457200"/>
          </a:xfrm>
          <a:prstGeom prst="rect">
            <a:avLst/>
          </a:prstGeom>
          <a:solidFill>
            <a:srgbClr val="33679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🔍  SQL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7472" y="3529584"/>
            <a:ext cx="1463040" cy="201168"/>
          </a:xfrm>
          <a:prstGeom prst="rect">
            <a:avLst/>
          </a:prstGeom>
          <a:solidFill>
            <a:srgbClr val="33679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529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6791"/>
                </a:solidFill>
              </a:rPr>
              <a:t>Analysis &amp; Queries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" y="380390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JOINs, CTEs, aggregations, KPI calculations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18688" y="299923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18688" y="2999232"/>
            <a:ext cx="2788920" cy="457200"/>
          </a:xfrm>
          <a:prstGeom prst="rect">
            <a:avLst/>
          </a:prstGeom>
          <a:solidFill>
            <a:srgbClr val="3572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0128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 Python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310128" y="3529584"/>
            <a:ext cx="1463040" cy="201168"/>
          </a:xfrm>
          <a:prstGeom prst="rect">
            <a:avLst/>
          </a:prstGeom>
          <a:solidFill>
            <a:srgbClr val="3572A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0128" y="3529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72A5"/>
                </a:solidFill>
              </a:rPr>
              <a:t>Exploratory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0128" y="380390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Pandas, Matplotlib, Seaborn, Plotly in Google Colab.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81344" y="299923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81344" y="2999232"/>
            <a:ext cx="2788920" cy="457200"/>
          </a:xfrm>
          <a:prstGeom prst="rect">
            <a:avLst/>
          </a:prstGeom>
          <a:solidFill>
            <a:srgbClr val="F2C8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299923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</a:rPr>
              <a:t>📈  Power BI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72784" y="3529584"/>
            <a:ext cx="1463040" cy="201168"/>
          </a:xfrm>
          <a:prstGeom prst="rect">
            <a:avLst/>
          </a:prstGeom>
          <a:solidFill>
            <a:srgbClr val="F2C81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2784" y="35295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2C811"/>
                </a:solidFill>
              </a:rPr>
              <a:t>Dashboard &amp; Reporting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72784" y="380390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C93"/>
                </a:solidFill>
              </a:rPr>
              <a:t>Interactive .pbix file with Star Schema model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39279" y="3007748"/>
            <a:ext cx="3200400" cy="320040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0" y="-914400"/>
            <a:ext cx="2926080" cy="2926080"/>
          </a:xfrm>
          <a:prstGeom prst="ellipse">
            <a:avLst/>
          </a:prstGeom>
          <a:solidFill>
            <a:srgbClr val="00C4CC">
              <a:alpha val="15000"/>
            </a:srgbClr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2011680" cy="320040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F1B2D"/>
                </a:solidFill>
              </a:rPr>
              <a:t>PROJECT SUMMARY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Delivered!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&amp; Customer Analysis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011680" cy="14173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201168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Excel Workbook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7B5"/>
                </a:solidFill>
              </a:rPr>
              <a:t>Cleaned &amp; validated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79192" y="2148840"/>
            <a:ext cx="2011680" cy="14173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79192" y="2148840"/>
            <a:ext cx="201168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79192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770632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AWS SQL 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70632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7B5"/>
                </a:solidFill>
              </a:rPr>
              <a:t>Star Schema + queries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55464" y="2148840"/>
            <a:ext cx="2011680" cy="14173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55464" y="2148840"/>
            <a:ext cx="201168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55464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📓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46904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Jupyter Notebook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6904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7B5"/>
                </a:solidFill>
              </a:rPr>
              <a:t>Python EDA (.ipynb)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31736" y="2148840"/>
            <a:ext cx="2011680" cy="1417320"/>
          </a:xfrm>
          <a:prstGeom prst="rect">
            <a:avLst/>
          </a:prstGeom>
          <a:solidFill>
            <a:srgbClr val="162944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31736" y="2148840"/>
            <a:ext cx="2011680" cy="54864"/>
          </a:xfrm>
          <a:prstGeom prst="rect">
            <a:avLst/>
          </a:prstGeom>
          <a:solidFill>
            <a:srgbClr val="00C4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31736" y="2240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23176" y="27614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23176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B97B5"/>
                </a:solidFill>
              </a:rPr>
              <a:t>Interactive .pbix file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730752"/>
            <a:ext cx="8321040" cy="658368"/>
          </a:xfrm>
          <a:prstGeom prst="rect">
            <a:avLst/>
          </a:prstGeom>
          <a:solidFill>
            <a:srgbClr val="1A73E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730752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4CC"/>
                </a:solidFill>
              </a:rPr>
              <a:t>From raw Kaggle CSV → Cleaned Excel → AWS ETL → SQL Analysis → Python EDA → Power BI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C4CC"/>
                </a:solidFill>
              </a:rPr>
              <a:t>A complete, industry-standard data analytics pipeline built end-to-end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9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9A"/>
                </a:solidFill>
              </a:rPr>
              <a:t>Prepared by: Jatindra Patel  |  Retail Sales &amp; Customer Analysis Dashboard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1718</Words>
  <Application>Microsoft Office PowerPoint</Application>
  <PresentationFormat>On-screen Show (16:9)</PresentationFormat>
  <Paragraphs>355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&amp; Customer Analysis Dashboard</dc:title>
  <dc:subject>PptxGenJS Presentation</dc:subject>
  <dc:creator>Jatindra Patel</dc:creator>
  <cp:lastModifiedBy>Jayesh Patel</cp:lastModifiedBy>
  <cp:revision>8</cp:revision>
  <dcterms:created xsi:type="dcterms:W3CDTF">2026-03-30T02:26:56Z</dcterms:created>
  <dcterms:modified xsi:type="dcterms:W3CDTF">2026-03-30T02:59:24Z</dcterms:modified>
</cp:coreProperties>
</file>